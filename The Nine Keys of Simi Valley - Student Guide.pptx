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9A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9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GUIDE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240280"/>
            <a:ext cx="10607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Nine Keys of Simi Valley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9D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English Treasure Hunt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A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real Simi Valley locations. Nine business-English lessons. One word hidden inside the objects you win.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2011680" cy="0"/>
          </a:xfrm>
          <a:prstGeom prst="line">
            <a:avLst/>
          </a:prstGeom>
          <a:noFill/>
          <a:ln w="19050">
            <a:solidFill>
              <a:srgbClr val="D99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8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the hunt, step by step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THIS PRODUCT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grammar course disguised</a:t>
            </a:r>
            <a:endParaRPr lang="en-US" sz="2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treasure hunt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real locations around Simi Valley, California — each one hiding an object.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object is guarded by a short business-English lesson and a mini-game. Clear ten rounds and the object is yours.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all nine objects and their letters spell one final hidden word.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required order — a student can start at any of the nine locations.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46520" y="2254568"/>
            <a:ext cx="5166360" cy="326326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img/home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300288"/>
            <a:ext cx="5074920" cy="31718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TEACHING METHOD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verb families, one simple rule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074920" cy="2286000"/>
          </a:xfrm>
          <a:prstGeom prst="rect">
            <a:avLst>
              <a:gd name="adj" fmla="val 3200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0487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D99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— “THE GODFATHER”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verb </a:t>
            </a:r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on its own. Needs no helper. Is always followed by a noun.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2148840"/>
            <a:ext cx="5074920" cy="2286000"/>
          </a:xfrm>
          <a:prstGeom prst="rect">
            <a:avLst>
              <a:gd name="adj" fmla="val 3200"/>
            </a:avLst>
          </a:prstGeom>
          <a:solidFill>
            <a:srgbClr val="D99A3E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240487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— EVERY ACTION VERB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2788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 on its own.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09360" y="324612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B2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 helper (Did / Do / Does / Will) to ask a question, and turns noun-like with -ing or -ed next to V1.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10469880" cy="914400"/>
          </a:xfrm>
          <a:prstGeom prst="rect">
            <a:avLst>
              <a:gd name="adj" fmla="val 6000"/>
            </a:avLst>
          </a:prstGeom>
          <a:solidFill>
            <a:srgbClr val="F4F5F7"/>
          </a:solidFill>
          <a:ln w="12700">
            <a:solidFill>
              <a:srgbClr val="E4E1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17720"/>
            <a:ext cx="9921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they build the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Seven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Subject + Verb + Noun — presented as the formula behind roughly 95% of everyday English answers.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5687568"/>
            <a:ext cx="10469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 rests on </a:t>
            </a:r>
            <a:pPr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TPR (Total Physical Response)</a:t>
            </a:r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every new word is paired with a movement or an image, training fast recall instead of slow translation.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HUNT IS ORGANIZED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 locations, nine lessons, any order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416052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3867912"/>
                <a:gridCol w="2743200"/>
              </a:tblGrid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Grammar topic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Hidden object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Ronald Reagan Presidential Library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Movement First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Silver Speech Coin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Corriganville Park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Kinds of Verb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Ironwood Film Reel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Strathearn Historical Park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Rule of Seven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Miner's Brass Lantern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Santa Susana Depot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 in Detail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Iron Rail Whistle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Chumash Indian Museum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 in Detail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Valley Rain Basket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Rocky Peak Park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Other Helpers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 Sandstone Key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Mount McCoy Cross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Small Rules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Hilltop Bell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Simi Valley Cultural Arts Center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Sound of American English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Echo Stage Mask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Rancho Simi Community Park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Words You Can Actually Use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Yucca Seed Medallion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19963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all nine objects to unlock the final word waiting under the hunt.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MAP AND CHOOSE A LOCATION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6126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Home screen, use the left-hand menu to browse all nine locations.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Explore on any location card. There is no fixed starting point — pick the one that looks most interesting to you.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location shows a small object icon and its current status: Not visited or completed.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Credits entry at the bottom of the menu explains the method itself — visit it any time.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787110" y="1005840"/>
            <a:ext cx="1353861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sidebar_lo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2830" y="1051560"/>
            <a:ext cx="1262421" cy="5394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ABOUT THE LOCATION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931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info icon (ℹ️) next to any location name to open its detail card.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gives real background on the real place you are visiting.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Learn previews the grammar topic waiting for you at this stop.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This Object tells you exactly what you are hunting for.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63440" y="1284446"/>
            <a:ext cx="6949440" cy="50206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modal_le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330166"/>
            <a:ext cx="6858000" cy="49291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“HOW TO PLAY” FIRST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4114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location opens with a short How to play popup — read it before you start.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explains the exact mechanic for that location: matching, typing, choosing, or speaking.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Example line always shows one full round already solved for you.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Reopen this popup any time with the “How to play” button beside the game.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846320" y="1350169"/>
            <a:ext cx="6766560" cy="488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modal_how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395889"/>
            <a:ext cx="6675120" cy="47977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THE LESSON, THEN PLAY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4114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grammar lesson above the game — short, and written for working adults, not for a classroom.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down to Section B · Interactive Game to reach the mini-game itself.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round counter (Round 1 of 10) tracks how far you are in the current challenge.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all ten rounds to win the object hidden at that location.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846320" y="1639322"/>
            <a:ext cx="6766560" cy="43108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game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685042"/>
            <a:ext cx="6675120" cy="42194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LOCATIONS, IN DETAIL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pages for every location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8961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location gets four pages here: the grammar lesson with a short summary, how to play its mini-game with a worked example, the in-game help popup you can reopen anytime, and the location's own info card.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1 OF 9 · THE LESSON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Ronald Reagan Presidential Library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you already know more English than you can speak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794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recognize far more English than you can produce on the spot — that gap is retrieval, not knowledge. The fix is TPR: pair every new phrase with a movement or image, then recall it fast and out loud until it responds like a native word.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240120" y="914400"/>
            <a:ext cx="5704640" cy="56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lesson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5840" y="960120"/>
            <a:ext cx="5613200" cy="5532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1 OF 9 · HOW TO PLAY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Ronald Reagan Presidential Library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you already know more English than you can speak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PLAY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has a picture. Pick a phrase on the left, then the movement it makes on the right. Ten correct pairs win the coin.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4114800" cy="1234440"/>
          </a:xfrm>
          <a:prstGeom prst="rect">
            <a:avLst>
              <a:gd name="adj" fmla="val 4444"/>
            </a:avLst>
          </a:prstGeom>
          <a:solidFill>
            <a:srgbClr val="F7F1E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977640"/>
            <a:ext cx="54864" cy="1234440"/>
          </a:xfrm>
          <a:prstGeom prst="rect">
            <a:avLst/>
          </a:prstGeom>
          <a:solidFill>
            <a:srgbClr val="D99A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096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4352544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the contract → You move your hand across a page and stop.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440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object:  </a:t>
            </a:r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Speech Coin 🪙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46320" y="1804666"/>
            <a:ext cx="6766560" cy="39801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img/gam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850386"/>
            <a:ext cx="6675120" cy="38887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1 OF 9 · HELP, ANYTIME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Ronald Reagan Presidential Library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you already know more English than you can speak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“How to play” button beside the game reopens this same popup at any point during a round — the mechanic and one worked example, without losing your progress.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350169"/>
            <a:ext cx="6766560" cy="488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howto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395889"/>
            <a:ext cx="6675120" cy="47977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1 OF 9 · ABOUT THIS PLACE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Ronald Reagan Presidential Library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you already know more English than you can speak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info icon (ℹ️) next to any location on the map to open this card — real history behind the place, the grammar topic waiting for you, and the object you are hunting for.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4446"/>
            <a:ext cx="6949440" cy="50206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learn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330166"/>
            <a:ext cx="6858000" cy="49291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2 OF 9 · THE LESSON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Corriganville Park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English verb is one of two characters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794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English verb is either V1 (the verb “to be” — strong, and able to ask its own questions) or V2 (every action verb — weak, and dependent on a helper like Do / Does / Did / Will). A quick hand test settles which one you are dealing with: can you do it with your hands or body?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221208" y="914400"/>
            <a:ext cx="5742463" cy="56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lesson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6928" y="960120"/>
            <a:ext cx="5651023" cy="5532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2 OF 9 · HOW TO PLAY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Corriganville Park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English verb is one of two characters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PLAY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word at a time. Ask the hand test: can you do it with your hands? Tap fast — you have six seconds per word.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4114800" cy="1234440"/>
          </a:xfrm>
          <a:prstGeom prst="rect">
            <a:avLst>
              <a:gd name="adj" fmla="val 4444"/>
            </a:avLst>
          </a:prstGeom>
          <a:solidFill>
            <a:srgbClr val="F7F1E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977640"/>
            <a:ext cx="54864" cy="1234440"/>
          </a:xfrm>
          <a:prstGeom prst="rect">
            <a:avLst/>
          </a:prstGeom>
          <a:solidFill>
            <a:srgbClr val="D99A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096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4352544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→ V2, an action verb (needs Do / Does / Did / Will). is → V1, no helper needed.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440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object:  </a:t>
            </a:r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Ironwood Film Reel 🎞️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46320" y="1836048"/>
            <a:ext cx="6766560" cy="391742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img/gam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881768"/>
            <a:ext cx="6675120" cy="382598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2 OF 9 · HELP, ANYTIME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Corriganville Park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English verb is one of two characters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“How to play” button beside the game reopens this same popup at any point during a round — the mechanic and one worked example, without losing your progress.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350169"/>
            <a:ext cx="6766560" cy="488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howto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395889"/>
            <a:ext cx="6675120" cy="47977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2 OF 9 · ABOUT THIS PLACE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Corriganville Park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English verb is one of two characters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info icon (ℹ️) next to any location on the map to open this card — real history behind the place, the grammar topic waiting for you, and the object you are hunting for.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4446"/>
            <a:ext cx="6949440" cy="50206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learn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330166"/>
            <a:ext cx="6858000" cy="49291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3 OF 9 · THE LESSON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Strathearn Historical Park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shape covers almost every answer you will give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794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every English sentence fits one frame: Subject + Verb + Noun, then stop. Deciding the three blocks before you speak — who, which verb, what thing — is what keeps a sentence from collapsing mid-air, a habit Spanish's dropped subjects don't train.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277593" y="914400"/>
            <a:ext cx="5629693" cy="56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lesson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3313" y="960120"/>
            <a:ext cx="5538253" cy="5532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3 OF 9 · HOW TO PLAY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Strathearn Historical Park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shape covers almost every answer you will give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PLAY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sentence in the order Subject → Verb → Noun. Drag the blocks, or click them — both work. Ten correct frames win the lantern.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4114800" cy="1234440"/>
          </a:xfrm>
          <a:prstGeom prst="rect">
            <a:avLst>
              <a:gd name="adj" fmla="val 4444"/>
            </a:avLst>
          </a:prstGeom>
          <a:solidFill>
            <a:srgbClr val="F7F1E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977640"/>
            <a:ext cx="54864" cy="1234440"/>
          </a:xfrm>
          <a:prstGeom prst="rect">
            <a:avLst/>
          </a:prstGeom>
          <a:solidFill>
            <a:srgbClr val="D99A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096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4352544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 | presents | the new pricing. → Subject, then V2, then the noun.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440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object:  </a:t>
            </a:r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Miner's Brass Lantern 🏮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46320" y="2038415"/>
            <a:ext cx="6766560" cy="351269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img/game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084135"/>
            <a:ext cx="6675120" cy="34212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3 OF 9 · HELP, ANYTIME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Strathearn Historical Park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shape covers almost every answer you will give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“How to play” button beside the game reopens this same popup at any point during a round — the mechanic and one worked example, without losing your progress.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350169"/>
            <a:ext cx="6766560" cy="488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howto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395889"/>
            <a:ext cx="6675120" cy="47977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3 OF 9 · ABOUT THIS PLACE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Strathearn Historical Park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shape covers almost every answer you will give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info icon (ℹ️) next to any location on the map to open this card — real history behind the place, the grammar topic waiting for you, and the object you are hunting for.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4446"/>
            <a:ext cx="6949440" cy="50206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learn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330166"/>
            <a:ext cx="6858000" cy="49291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4 OF 9 · THE LESSON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Santa Susana Depot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words, three times, no exceptions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794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V1, the verb “to be,” has exactly six forms spread across present, past and future. Turning a statement into a question is a simple swap — move V1 to the front — which is exactly why V1 never needs a helper verb.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67429" y="914400"/>
            <a:ext cx="5850021" cy="56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lesson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3149" y="960120"/>
            <a:ext cx="5758581" cy="5532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4 OF 9 · HOW TO PLAY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Santa Susana Depot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words, three times, no exceptions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PLAY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 gap with the right form of V1: am, is, are, was, were or will be. Ten correct answers win the whistle.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4114800" cy="1234440"/>
          </a:xfrm>
          <a:prstGeom prst="rect">
            <a:avLst>
              <a:gd name="adj" fmla="val 4444"/>
            </a:avLst>
          </a:prstGeom>
          <a:solidFill>
            <a:srgbClr val="F7F1E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977640"/>
            <a:ext cx="54864" cy="1234440"/>
          </a:xfrm>
          <a:prstGeom prst="rect">
            <a:avLst/>
          </a:prstGeom>
          <a:solidFill>
            <a:srgbClr val="D99A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096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4352544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proposal ___ ready for Monday. → is (present, singular subject).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440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object:  </a:t>
            </a:r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 Rail Whistle 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46320" y="2075198"/>
            <a:ext cx="6766560" cy="34391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img/game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120918"/>
            <a:ext cx="6675120" cy="33476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4 OF 9 · HELP, ANYTIME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Santa Susana Depot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words, three times, no exceptions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“How to play” button beside the game reopens this same popup at any point during a round — the mechanic and one worked example, without losing your progress.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350169"/>
            <a:ext cx="6766560" cy="488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howto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395889"/>
            <a:ext cx="6675120" cy="47977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4 OF 9 · ABOUT THIS PLACE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Santa Susana Depot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words, three times, no exceptions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info icon (ℹ️) next to any location on the map to open this card — real history behind the place, the grammar topic waiting for you, and the object you are hunting for.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4446"/>
            <a:ext cx="6949440" cy="50206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learn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330166"/>
            <a:ext cx="6858000" cy="49291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5 OF 9 · THE LESSON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Chumash Indian Museum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 verbs, and the three helpers that carry them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794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verbs cannot ask their own questions — they borrow one of three helpers by tense: Did for the past, Do / Does for the present, Will for the future. The helper carries the tense, so the verb itself always stays in its plain form.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40115" y="914400"/>
            <a:ext cx="6304650" cy="56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lesson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5835" y="960120"/>
            <a:ext cx="6213210" cy="5532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5 OF 9 · HOW TO PLAY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Chumash Indian Museum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 verbs, and the three helpers that carry them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PLAY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each sentence as the task asks. Type your answer and check it. Ten correct rewrites win the basket.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4114800" cy="1234440"/>
          </a:xfrm>
          <a:prstGeom prst="rect">
            <a:avLst>
              <a:gd name="adj" fmla="val 4444"/>
            </a:avLst>
          </a:prstGeom>
          <a:solidFill>
            <a:srgbClr val="F7F1E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977640"/>
            <a:ext cx="54864" cy="1234440"/>
          </a:xfrm>
          <a:prstGeom prst="rect">
            <a:avLst/>
          </a:prstGeom>
          <a:solidFill>
            <a:srgbClr val="D99A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096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4352544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approved the budget. → Did the client approve the budget?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440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object:  </a:t>
            </a:r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Valley Rain Basket 🧺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46320" y="2033347"/>
            <a:ext cx="6766560" cy="3522827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img/game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079067"/>
            <a:ext cx="6675120" cy="343138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5 OF 9 · HELP, ANYTIME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Chumash Indian Museum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 verbs, and the three helpers that carry them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“How to play” button beside the game reopens this same popup at any point during a round — the mechanic and one worked example, without losing your progress.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350169"/>
            <a:ext cx="6766560" cy="488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howto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395889"/>
            <a:ext cx="6675120" cy="47977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5 OF 9 · ABOUT THIS PLACE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Chumash Indian Museum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 verbs, and the three helpers that carry them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info icon (ℹ️) next to any location on the map to open this card — real history behind the place, the grammar topic waiting for you, and the object you are hunting for.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4446"/>
            <a:ext cx="6949440" cy="50206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learn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330166"/>
            <a:ext cx="6858000" cy="49291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6 OF 9 · THE LESSON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Rocky Peak Park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words that decide how you sound in a room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794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Can, Could, May, Should and Must all touch permission or obligation, but each sets a different tone — from a casual favor to a hard deadline. Picking the wrong one is often what turns a polite request into an accidental order.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249263" y="914400"/>
            <a:ext cx="5686354" cy="56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lesson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4983" y="960120"/>
            <a:ext cx="5594914" cy="5532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6 OF 9 · HOW TO PLAY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Rocky Peak Park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words that decide how you sound in a room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PLAY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helper that matches the situation. Register matters as much as grammar. Ten correct answers win the key.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4114800" cy="1234440"/>
          </a:xfrm>
          <a:prstGeom prst="rect">
            <a:avLst>
              <a:gd name="adj" fmla="val 4444"/>
            </a:avLst>
          </a:prstGeom>
          <a:solidFill>
            <a:srgbClr val="F7F1E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977640"/>
            <a:ext cx="54864" cy="1234440"/>
          </a:xfrm>
          <a:prstGeom prst="rect">
            <a:avLst/>
          </a:prstGeom>
          <a:solidFill>
            <a:srgbClr val="D99A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096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4352544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___ deliver the report before Friday. → must (a hard deadline, no room to negotiate).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440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object:  </a:t>
            </a:r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Sandstone Key 🗝️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46320" y="2016076"/>
            <a:ext cx="6766560" cy="3557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img/game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061796"/>
            <a:ext cx="6675120" cy="34659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6 OF 9 · HELP, ANYTIME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Rocky Peak Park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words that decide how you sound in a room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“How to play” button beside the game reopens this same popup at any point during a round — the mechanic and one worked example, without losing your progress.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350169"/>
            <a:ext cx="6766560" cy="488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howto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395889"/>
            <a:ext cx="6675120" cy="47977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6 OF 9 · ABOUT THIS PLACE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Rocky Peak Park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words that decide how you sound in a room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info icon (ℹ️) next to any location on the map to open this card — real history behind the place, the grammar topic waiting for you, and the object you are hunting for.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4446"/>
            <a:ext cx="6949440" cy="50206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learn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330166"/>
            <a:ext cx="6858000" cy="49291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7 OF 9 · THE LESSON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Mount McCoy Cross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small rules that clean up your English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794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small, frequent fixes that instantly sound more professional: the right preposition for place and time (at / on / in / under), adjectives versus adverbs, “Let's + verb” for moving a meeting along, since versus from...to, and pronouncing -tion endings as “shun.”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517751" y="914400"/>
            <a:ext cx="5149378" cy="56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lesson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3471" y="960120"/>
            <a:ext cx="5057938" cy="5532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7 OF 9 · HOW TO PLAY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Mount McCoy Cross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small rules that clean up your English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PLAY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card, say your answer out loud, then flip it. Rate yourself honestly — only the cards you truly knew move you forward. Ten of those win the bell.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4114800" cy="1234440"/>
          </a:xfrm>
          <a:prstGeom prst="rect">
            <a:avLst>
              <a:gd name="adj" fmla="val 4444"/>
            </a:avLst>
          </a:prstGeom>
          <a:solidFill>
            <a:srgbClr val="F7F1E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977640"/>
            <a:ext cx="54864" cy="1234440"/>
          </a:xfrm>
          <a:prstGeom prst="rect">
            <a:avLst/>
          </a:prstGeom>
          <a:solidFill>
            <a:srgbClr val="D99A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096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4352544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starts ___ 2:00. → at 2:00 (an exact point in time).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440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object:  </a:t>
            </a:r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Hilltop Bell 🔔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46320" y="1438422"/>
            <a:ext cx="6766560" cy="4712677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img/game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484142"/>
            <a:ext cx="6675120" cy="462123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7 OF 9 · HELP, ANYTIME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Mount McCoy Cross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small rules that clean up your English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“How to play” button beside the game reopens this same popup at any point during a round — the mechanic and one worked example, without losing your progress.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350169"/>
            <a:ext cx="6766560" cy="488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howto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395889"/>
            <a:ext cx="6675120" cy="47977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7 OF 9 · ABOUT THIS PLACE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Mount McCoy Cross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small rules that clean up your English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info icon (ℹ️) next to any location on the map to open this card — real history behind the place, the grammar topic waiting for you, and the object you are hunting for.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4446"/>
            <a:ext cx="6949440" cy="50206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learn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330166"/>
            <a:ext cx="6858000" cy="49291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8 OF 9 · THE LESSON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Simi Valley Cultural Arts Center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sounds carry most of the accent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794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sounds do most of the work in an American accent: the growled English R and the wide, held long E. Both are physical habits more than pronunciation rules — and both are sounds Spanish speakers rarely make by accident.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13318" y="914400"/>
            <a:ext cx="5958243" cy="56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lesson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9038" y="960120"/>
            <a:ext cx="5866803" cy="5532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8 OF 9 · HOW TO PLAY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Simi Valley Cultural Arts Center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sounds carry most of the accent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PLAY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rounds on stage. Speak the word if your browser can hear you, or switch to a listening round and name the sound family.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4114800" cy="1234440"/>
          </a:xfrm>
          <a:prstGeom prst="rect">
            <a:avLst>
              <a:gd name="adj" fmla="val 4444"/>
            </a:avLst>
          </a:prstGeom>
          <a:solidFill>
            <a:srgbClr val="F7F1E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977640"/>
            <a:ext cx="54864" cy="1234440"/>
          </a:xfrm>
          <a:prstGeom prst="rect">
            <a:avLst/>
          </a:prstGeom>
          <a:solidFill>
            <a:srgbClr val="D99A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096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4352544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→ Two growls: quar-ter (the Angry dog R).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440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object:  </a:t>
            </a:r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Stage Mask 🎭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46320" y="1856195"/>
            <a:ext cx="6766560" cy="3877129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img/game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901915"/>
            <a:ext cx="6675120" cy="378568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8 OF 9 · HELP, ANYTIME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Simi Valley Cultural Arts Center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sounds carry most of the accent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“How to play” button beside the game reopens this same popup at any point during a round — the mechanic and one worked example, without losing your progress.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350169"/>
            <a:ext cx="6766560" cy="488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howto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395889"/>
            <a:ext cx="6675120" cy="47977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8 OF 9 · ABOUT THIS PLACE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Simi Valley Cultural Arts Center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sounds carry most of the accent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info icon (ℹ️) next to any location on the map to open this card — real history behind the place, the grammar topic waiting for you, and the object you are hunting for.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4446"/>
            <a:ext cx="6949440" cy="50206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learn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330166"/>
            <a:ext cx="6858000" cy="49291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9 OF 9 · THE LESSON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Rancho Simi Community Park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 refrigerator is not a meal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794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Recognizing a word (passive vocabulary) is not the same as producing it on the spot (active vocabulary). The personal dictionary technique — capture it, label it, own it with your own sentence, then pair it with the words it travels with — is how a word makes that move.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268228" y="914400"/>
            <a:ext cx="5648423" cy="56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lesson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3948" y="960120"/>
            <a:ext cx="5556983" cy="5532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9 OF 9 · HOW TO PLAY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Rancho Simi Community Park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 refrigerator is not a meal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PLAY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scenario is missing one working word. Type it. The first letter is on the table, and near-synonyms are accepted where they really fit.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4114800" cy="1234440"/>
          </a:xfrm>
          <a:prstGeom prst="rect">
            <a:avLst>
              <a:gd name="adj" fmla="val 4444"/>
            </a:avLst>
          </a:prstGeom>
          <a:solidFill>
            <a:srgbClr val="F7F1E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977640"/>
            <a:ext cx="54864" cy="1234440"/>
          </a:xfrm>
          <a:prstGeom prst="rect">
            <a:avLst/>
          </a:prstGeom>
          <a:solidFill>
            <a:srgbClr val="D99A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096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4352544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came in below plan, so we had to revise the ___ for the next two quarters. → forecast (Noun).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440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object:  </a:t>
            </a:r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Yucca Seed Medallion 🌿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46320" y="2056709"/>
            <a:ext cx="6766560" cy="347610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img/game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102429"/>
            <a:ext cx="6675120" cy="338466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9 OF 9 · HELP, ANYTIME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Rancho Simi Community Park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 refrigerator is not a meal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“How to play” button beside the game reopens this same popup at any point during a round — the mechanic and one worked example, without losing your progress.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350169"/>
            <a:ext cx="6766560" cy="488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howto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395889"/>
            <a:ext cx="6675120" cy="47977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9 OF 9 · ABOUT THIS PLACE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Rancho Simi Community Park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7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 refrigerator is not a meal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info icon (ℹ️) next to any location on the map to open this card — real history behind the place, the grammar topic waiting for you, and the object you are hunting for.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4446"/>
            <a:ext cx="6949440" cy="50206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learn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330166"/>
            <a:ext cx="6858000" cy="49291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YOUR PROGRESS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 Found in the top bar always shows how many of the nine you have collected.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the interface language at any time with the EN / ES / PT toggle in the top right.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progress is saved automatically as you complete each location — nothing to click to save.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4544925"/>
            <a:ext cx="11000232" cy="60279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img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90645"/>
            <a:ext cx="10908792" cy="5113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SUPPORT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translate. The games don't.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949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grammar lesson can be read in English, Spanish, or Portuguese — switch anytime with the EN / ES / PT toggle in the top bar.</a:t>
            </a:r>
            <a:endParaRPr lang="en-US" sz="1450" dirty="0"/>
          </a:p>
          <a:p>
            <a:pPr marL="342900" indent="-342900">
              <a:lnSpc>
                <a:spcPct val="13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mini-games stay in English on purpose: the whole point is producing English on the spot, not translating it first.</a:t>
            </a:r>
            <a:endParaRPr lang="en-US" sz="1450" dirty="0"/>
          </a:p>
          <a:p>
            <a:pPr marL="342900" indent="-342900">
              <a:lnSpc>
                <a:spcPct val="13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translation to understand a rule fully in your own language, then play the round itself in English.</a:t>
            </a:r>
            <a:endParaRPr lang="en-US" sz="1450" dirty="0"/>
          </a:p>
        </p:txBody>
      </p:sp>
      <p:pic>
        <p:nvPicPr>
          <p:cNvPr id="5" name="Image 0" descr="img/lang_tog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444770"/>
            <a:ext cx="3520440" cy="962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18120" y="3703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· ES · 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OVER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Resetting the hunt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114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Reset Hunt button, top right, clears every object you have collected.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nine locations return to Not visited, as if you were starting fresh.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confirmation dialog always asks first — nothing resets by accident.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4892040"/>
            <a:ext cx="4114800" cy="868680"/>
          </a:xfrm>
          <a:prstGeom prst="rect">
            <a:avLst>
              <a:gd name="adj" fmla="val 6316"/>
            </a:avLst>
          </a:prstGeom>
          <a:solidFill>
            <a:srgbClr val="F7ECEC"/>
          </a:solidFill>
          <a:ln w="12700">
            <a:solidFill>
              <a:srgbClr val="B8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89204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action cannot be undone. Use it only when you want a completely fresh run.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476817"/>
            <a:ext cx="6766560" cy="463588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img/reset_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522537"/>
            <a:ext cx="6675120" cy="454444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method behind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lesson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5394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V1 / V2 / SVN method was developed by </a:t>
            </a:r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3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“Marita” Eborn</a:t>
            </a:r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bilingual editor and academic teacher based in Simi Valley, California.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rests on Total Physical Response (TPR): pairing new words with movement or imagery for fast, natural recall.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top of the grammar sits a personal dictionary technique — capture, label, own, and pair every new word until it becomes active vocabulary.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708922" y="1005840"/>
            <a:ext cx="4504396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img/credits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4642" y="1051560"/>
            <a:ext cx="4412956" cy="5394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steps, every location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457200" cy="457200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5880" y="1874520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a location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51960" y="1874520"/>
            <a:ext cx="7269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map, pick any of the nine cards, and click Explore.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42616"/>
            <a:ext cx="10908792" cy="0"/>
          </a:xfrm>
          <a:prstGeom prst="line">
            <a:avLst/>
          </a:prstGeom>
          <a:noFill/>
          <a:ln w="9525">
            <a:solidFill>
              <a:srgbClr val="E4E1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2715768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about 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51960" y="2715768"/>
            <a:ext cx="7269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info card to read the history and preview the topic.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483864"/>
            <a:ext cx="10908792" cy="0"/>
          </a:xfrm>
          <a:prstGeom prst="line">
            <a:avLst/>
          </a:prstGeom>
          <a:noFill/>
          <a:ln w="9525">
            <a:solidFill>
              <a:srgbClr val="E4E1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630168"/>
            <a:ext cx="457200" cy="457200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30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3557016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How to play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51960" y="3557016"/>
            <a:ext cx="7269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popup so the mechanic is clear before round one.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325112"/>
            <a:ext cx="10908792" cy="0"/>
          </a:xfrm>
          <a:prstGeom prst="line">
            <a:avLst/>
          </a:prstGeom>
          <a:noFill/>
          <a:ln w="9525">
            <a:solidFill>
              <a:srgbClr val="E4E1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471416"/>
            <a:ext cx="457200" cy="457200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25880" y="4398264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Study, then play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51960" y="4398264"/>
            <a:ext cx="7269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short lesson, then clear ten rounds in Section B.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166360"/>
            <a:ext cx="10908792" cy="0"/>
          </a:xfrm>
          <a:prstGeom prst="line">
            <a:avLst/>
          </a:prstGeom>
          <a:noFill/>
          <a:ln w="9525">
            <a:solidFill>
              <a:srgbClr val="E4E1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312664"/>
            <a:ext cx="457200" cy="457200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312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325880" y="5239512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&amp; switch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251960" y="5239512"/>
            <a:ext cx="7269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Objects Found, and change language whenever you like.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Keys of Simi Valley  ·  Student Guide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9A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 locations. Nine lessons.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word waiting.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map and start whenever you are ready — in any order you like.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manu-data-master.github.io/V1V2FluencyEnglish.app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luck, student.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2026-09-23T04:09:44Z</dcterms:created>
  <dcterms:modified xsi:type="dcterms:W3CDTF">2026-09-23T04:09:44Z</dcterms:modified>
</cp:coreProperties>
</file>